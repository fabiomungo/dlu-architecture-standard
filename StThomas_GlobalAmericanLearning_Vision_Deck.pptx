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St. Thomas University — Global American Learning positions itself as an AI-Native University implementing the DLU Executive 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Seven Questions unify prior foundation &amp; manifesto sets; they are canonical.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754880" cy="4754880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91440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THOMAS UNIVERSITY  ·  GLOBAL AMERICAN LEARNING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286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AI-Native University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66928" y="3611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Vision &amp; Manifesto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66928" y="44348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Redesigning higher education around knowledge, competencies, evidence, human expertise and Artificial Intelligence — implementing the DLU Architecture Standard (BOOK-00, v2.0).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white paper  ·  For Rectors, Academic Boards &amp; Executive Leadership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THE NEED FOR A NEW PARADIGM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education is entering a structural transformation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platforms improved administration but preserved the industrial model. The symptoms are structural, not incidental.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11057839" cy="914400"/>
          </a:xfrm>
          <a:prstGeom prst="roundRect">
            <a:avLst>
              <a:gd name="adj" fmla="val 9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36829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368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35608" y="227685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disease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78808" y="2240280"/>
            <a:ext cx="721735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and time-to-degree stagnate while cost per credential rises — Baumol's cost disease applies fully to seat-time education.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172968"/>
            <a:ext cx="11057839" cy="914400"/>
          </a:xfrm>
          <a:prstGeom prst="roundRect">
            <a:avLst>
              <a:gd name="adj" fmla="val 9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8096" y="339242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35608" y="330098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skills gap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178808" y="3264408"/>
            <a:ext cx="721735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report transcripts predict neither competence nor readiness; a degree compresses years of heterogeneous evidence into one ordinal grade.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4197096"/>
            <a:ext cx="11057839" cy="914400"/>
          </a:xfrm>
          <a:prstGeom prst="roundRect">
            <a:avLst>
              <a:gd name="adj" fmla="val 9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" y="441655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35608" y="43251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One-speed pedagogy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178808" y="4288536"/>
            <a:ext cx="721735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(1984): mastery learning with tutoring shifts achievement by ~2 sigma. Industrial universities can't afford one tutor per learner — AI changes that constraint.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221224"/>
            <a:ext cx="11057839" cy="914400"/>
          </a:xfrm>
          <a:prstGeom prst="roundRect">
            <a:avLst>
              <a:gd name="adj" fmla="val 9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44068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35608" y="5349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 trust erosion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178808" y="5312664"/>
            <a:ext cx="721735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makes uninvigilated essays and take-home projects unreliable as evidence — undermining the epistemic basis of grading itself.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PROVOCATION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"How should a university be designed if Artificial Intelligence had always been available?"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45720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institutions ask how AI can improve today's university — and get faster administration of an unchanged model. DLU asks a different question, and answers it with an Academic Operating System.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EXECUTIVE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&amp; Vision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" y="251460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Maximise the lifelong transformation of every learner through the orchestration of knowledge, competencies, human mentorship and Artificial Intelligence.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32688" y="448056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becomes continuous, adaptive and evidence-based — the institution re-architected around: “what can this person now do, and how do we know?”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61127" cy="4480560"/>
          </a:xfrm>
          <a:prstGeom prst="roundRect">
            <a:avLst>
              <a:gd name="adj" fmla="val 1837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C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514600"/>
            <a:ext cx="472104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learner benefits from a continuously evolving academic intelligence — capable of answering, at any moment, the Seven Canonical Questions.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4160520"/>
            <a:ext cx="4721047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over enthusiasm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institution is a feature, not a legacy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product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ACADEMIC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Seven Canonical Questions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kernel capability must map to at least one. If it serves none, it does not belong in the kernel.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257800" cy="82296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167128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16736" y="20574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the learner?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16736" y="242316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— identity &amp; behaviour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898648"/>
            <a:ext cx="5257800" cy="82296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3099816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099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16736" y="299008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learner really know?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16736" y="33558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+ Assessment (evidence)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3831336"/>
            <a:ext cx="5257800" cy="82296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4032504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16736" y="392277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the learner want to go?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16736" y="428853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— career layer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764024"/>
            <a:ext cx="5257800" cy="82296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4965192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965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16736" y="485546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optimal path?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16736" y="522122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GPS Engine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55080" y="1965960"/>
            <a:ext cx="5257800" cy="82296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37960" y="2167128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04888" y="20574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the learner do next?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104888" y="242316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+ Recommendation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55080" y="2898648"/>
            <a:ext cx="5257800" cy="82296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37960" y="3099816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3099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04888" y="299008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this recommendation appropriate?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104888" y="33558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contract (ADR-0006)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355080" y="3831336"/>
            <a:ext cx="5257800" cy="82296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37960" y="4032504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7" name="Text 35"/>
          <p:cNvSpPr/>
          <p:nvPr/>
        </p:nvSpPr>
        <p:spPr>
          <a:xfrm>
            <a:off x="6537960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104888" y="392277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it serve long-term goals?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104888" y="428853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scenario alignment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DLU APART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commitments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286000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32461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over enthusiasm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9536" y="42519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pedagogical claim is grounded in learning science; every AI recommendation is explainable and auditable.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4256" y="192024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54296" y="2286000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654296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26864" y="32461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institution is a feature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26864" y="42519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mentorship, peer community and human accountability are architected deliberately — not eroded by automation.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01584" y="192024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21624" y="2286000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842162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94192" y="32461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is the product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94192" y="42519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AI-saturated world the scarce asset is credible evidence of human capability. Integrity and verifiable credentials are kernel concerns.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AI-NATIVE UNIVERSITY MANIFESTO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principles — each a preference under tension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2B3A7A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97510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16736" y="182880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over transactions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724912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2B3A7A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87121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16736" y="2724912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over terminal degrees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621024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2B3A7A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376732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16736" y="3621024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Competencies over attendance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517136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2B3A7A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466344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16736" y="45171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Interconnected knowledge over siloed courses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413248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2B3A7A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555955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5559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16736" y="5413248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amplification over AI replacement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55080" y="1828800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2B3A7A"/>
          </a:solidFill>
          <a:ln/>
        </p:spPr>
      </p:sp>
      <p:sp>
        <p:nvSpPr>
          <p:cNvPr id="25" name="Shape 23"/>
          <p:cNvSpPr/>
          <p:nvPr/>
        </p:nvSpPr>
        <p:spPr>
          <a:xfrm>
            <a:off x="6501384" y="197510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6501384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04888" y="182880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academic intelligence for every learner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55080" y="2724912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2B3A7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01384" y="287121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6501384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104888" y="2724912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recommendations over black-box optimization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55080" y="3621024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2B3A7A"/>
          </a:solidFill>
          <a:ln/>
        </p:spPr>
      </p:sp>
      <p:sp>
        <p:nvSpPr>
          <p:cNvPr id="33" name="Shape 31"/>
          <p:cNvSpPr/>
          <p:nvPr/>
        </p:nvSpPr>
        <p:spPr>
          <a:xfrm>
            <a:off x="6501384" y="376732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4" name="Text 32"/>
          <p:cNvSpPr/>
          <p:nvPr/>
        </p:nvSpPr>
        <p:spPr>
          <a:xfrm>
            <a:off x="6501384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104888" y="3621024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responsibility over automated authority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55080" y="4517136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2B3A7A"/>
          </a:solidFill>
          <a:ln/>
        </p:spPr>
      </p:sp>
      <p:sp>
        <p:nvSpPr>
          <p:cNvPr id="37" name="Shape 35"/>
          <p:cNvSpPr/>
          <p:nvPr/>
        </p:nvSpPr>
        <p:spPr>
          <a:xfrm>
            <a:off x="6501384" y="466344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8" name="Text 36"/>
          <p:cNvSpPr/>
          <p:nvPr/>
        </p:nvSpPr>
        <p:spPr>
          <a:xfrm>
            <a:off x="6501384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104888" y="45171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Ecosystems over walled gardens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355080" y="5413248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2B3A7A"/>
          </a:solidFill>
          <a:ln/>
        </p:spPr>
      </p:sp>
      <p:sp>
        <p:nvSpPr>
          <p:cNvPr id="41" name="Shape 39"/>
          <p:cNvSpPr/>
          <p:nvPr/>
        </p:nvSpPr>
        <p:spPr>
          <a:xfrm>
            <a:off x="6501384" y="555955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2" name="Text 40"/>
          <p:cNvSpPr/>
          <p:nvPr/>
        </p:nvSpPr>
        <p:spPr>
          <a:xfrm>
            <a:off x="6501384" y="5559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104888" y="5413248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Desirable difficulty over frictionless comfort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ACADEMIC PHILOSOPHY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Academic Transformation (CAT)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is driven by evidence, never by time elapsed — and the learner can see and contest their own model.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1316736" cy="1371600"/>
          </a:xfrm>
          <a:prstGeom prst="roundRect">
            <a:avLst>
              <a:gd name="adj" fmla="val 5556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2414016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21208" y="283464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52244" y="2286000"/>
            <a:ext cx="1316736" cy="1371600"/>
          </a:xfrm>
          <a:prstGeom prst="roundRect">
            <a:avLst>
              <a:gd name="adj" fmla="val 5556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52244" y="2414016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06524" y="283464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2286000"/>
            <a:ext cx="1316736" cy="1371600"/>
          </a:xfrm>
          <a:prstGeom prst="roundRect">
            <a:avLst>
              <a:gd name="adj" fmla="val 5556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2414016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283464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22876" y="2286000"/>
            <a:ext cx="1316736" cy="1371600"/>
          </a:xfrm>
          <a:prstGeom prst="roundRect">
            <a:avLst>
              <a:gd name="adj" fmla="val 5556"/>
            </a:avLst>
          </a:prstGeom>
          <a:solidFill>
            <a:srgbClr val="7C8BC7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22876" y="2414016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77156" y="283464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08192" y="2286000"/>
            <a:ext cx="1316736" cy="1371600"/>
          </a:xfrm>
          <a:prstGeom prst="roundRect">
            <a:avLst>
              <a:gd name="adj" fmla="val 5556"/>
            </a:avLst>
          </a:prstGeom>
          <a:solidFill>
            <a:srgbClr val="7C8BC7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08192" y="2414016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62472" y="283464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93508" y="2286000"/>
            <a:ext cx="1316736" cy="1371600"/>
          </a:xfrm>
          <a:prstGeom prst="roundRect">
            <a:avLst>
              <a:gd name="adj" fmla="val 5556"/>
            </a:avLst>
          </a:prstGeom>
          <a:solidFill>
            <a:srgbClr val="7C8BC7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3508" y="2414016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47788" y="283464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878824" y="2286000"/>
            <a:ext cx="1316736" cy="1371600"/>
          </a:xfrm>
          <a:prstGeom prst="roundRect">
            <a:avLst>
              <a:gd name="adj" fmla="val 5556"/>
            </a:avLst>
          </a:prstGeom>
          <a:solidFill>
            <a:srgbClr val="C9A227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878824" y="2414016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833104" y="283464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264140" y="2286000"/>
            <a:ext cx="1316736" cy="1371600"/>
          </a:xfrm>
          <a:prstGeom prst="roundRect">
            <a:avLst>
              <a:gd name="adj" fmla="val 5556"/>
            </a:avLst>
          </a:prstGeom>
          <a:solidFill>
            <a:srgbClr val="C9A227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264140" y="2414016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218420" y="283464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41148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9808" y="42793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Unknown → Aware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49808" y="486460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Conscious-competence ladder; curiosity &amp; goal activation (self-determination theory)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337560" y="41148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520440" y="42793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→ Practicing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520440" y="486460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acquisition (Dreyfus); deliberate practice (Ericsson); retrieval practice &amp; spacing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08192" y="41148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91072" y="42793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Competent → Mastered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291072" y="486460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learning (Bloom); constructive alignment (Biggs); SOLO taxonomy for depth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878824" y="41148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061704" y="42793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→ Innovating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9061704" y="486460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Protégé effect; legitimate peripheral participation (Lave &amp; Wenger); creation as highest outcome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4.2 · THE EPISTEMIC TRIANGLE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· Competency · Evidence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2286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9536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7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do I know?"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34290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in the Academic Knowledge Network with probabilistic mastery state.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34256" y="201168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26864" y="2286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26864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7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am I capable of?"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26864" y="34290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Framework-aligned (EQF/ESCO/DigComp/SFIA), levelled and portable.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01584" y="201168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94192" y="2286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94192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"Why should anyone believe it?"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94192" y="34290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sourced, trust-weighted records linking artifacts to claims.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66928" y="525780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claim without evidence · no evidence without provenance · no credential without both. This triangle is the invariant beneath every engine.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ACADEMIC OPERATING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Academic Operating System — not an LMS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kernel of ten academic engines with stable contracts, orchestrating state around the Student Digital Twin.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5257800" cy="731520"/>
          </a:xfrm>
          <a:prstGeom prst="roundRect">
            <a:avLst>
              <a:gd name="adj" fmla="val 8750"/>
            </a:avLst>
          </a:prstGeom>
          <a:solidFill>
            <a:srgbClr val="2B3A7A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011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15768" y="2011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acting; roles, consent, privacy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2011680"/>
            <a:ext cx="5257800" cy="731520"/>
          </a:xfrm>
          <a:prstGeom prst="roundRect">
            <a:avLst>
              <a:gd name="adj" fmla="val 8750"/>
            </a:avLst>
          </a:prstGeom>
          <a:solidFill>
            <a:srgbClr val="2B3A7A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011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03920" y="2011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Reasoning, orchestration, explanation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871216"/>
            <a:ext cx="5257800" cy="731520"/>
          </a:xfrm>
          <a:prstGeom prst="roundRect">
            <a:avLst>
              <a:gd name="adj" fmla="val 8750"/>
            </a:avLst>
          </a:prstGeom>
          <a:solidFill>
            <a:srgbClr val="2B3A7A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871216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Twin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15768" y="287121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state of student/faculty/institution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2871216"/>
            <a:ext cx="5257800" cy="731520"/>
          </a:xfrm>
          <a:prstGeom prst="roundRect">
            <a:avLst>
              <a:gd name="adj" fmla="val 8750"/>
            </a:avLst>
          </a:prstGeom>
          <a:solidFill>
            <a:srgbClr val="2B3A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871216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287121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graph, prerequisites, mastery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3730752"/>
            <a:ext cx="5257800" cy="731520"/>
          </a:xfrm>
          <a:prstGeom prst="roundRect">
            <a:avLst>
              <a:gd name="adj" fmla="val 8750"/>
            </a:avLst>
          </a:prstGeom>
          <a:solidFill>
            <a:srgbClr val="2B3A7A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373075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15768" y="373075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Framework-aligned state + confidence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3730752"/>
            <a:ext cx="5257800" cy="731520"/>
          </a:xfrm>
          <a:prstGeom prst="roundRect">
            <a:avLst>
              <a:gd name="adj" fmla="val 8750"/>
            </a:avLst>
          </a:prstGeom>
          <a:solidFill>
            <a:srgbClr val="2B3A7A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73075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03920" y="373075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missions, delivery, pacing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4590288"/>
            <a:ext cx="5257800" cy="731520"/>
          </a:xfrm>
          <a:prstGeom prst="roundRect">
            <a:avLst>
              <a:gd name="adj" fmla="val 8750"/>
            </a:avLst>
          </a:prstGeom>
          <a:solidFill>
            <a:srgbClr val="2B3A7A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" y="459028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715768" y="45902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→ assessment → evidence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55080" y="4590288"/>
            <a:ext cx="5257800" cy="731520"/>
          </a:xfrm>
          <a:prstGeom prst="roundRect">
            <a:avLst>
              <a:gd name="adj" fmla="val 8750"/>
            </a:avLst>
          </a:prstGeom>
          <a:solidFill>
            <a:srgbClr val="2B3A7A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459028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03920" y="45902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Criteria, issuance, verification (VC/OB)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5449824"/>
            <a:ext cx="5257800" cy="731520"/>
          </a:xfrm>
          <a:prstGeom prst="roundRect">
            <a:avLst>
              <a:gd name="adj" fmla="val 8750"/>
            </a:avLst>
          </a:prstGeom>
          <a:solidFill>
            <a:srgbClr val="2B3A7A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" y="5449824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GPS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715768" y="544982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path optimization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355080" y="5449824"/>
            <a:ext cx="5257800" cy="731520"/>
          </a:xfrm>
          <a:prstGeom prst="roundRect">
            <a:avLst>
              <a:gd name="adj" fmla="val 8750"/>
            </a:avLst>
          </a:prstGeom>
          <a:solidFill>
            <a:srgbClr val="2B3A7A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5449824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Mesh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503920" y="544982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taxonomy, at-least-once delivery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THE HUMAN INSTITUTION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professor's time is reallocated, not eliminated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(industrial university)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5508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(AI-native university)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5257800" cy="676656"/>
          </a:xfrm>
          <a:prstGeom prst="roundRect">
            <a:avLst>
              <a:gd name="adj" fmla="val 12162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95528" y="2103120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delivery at scale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55080" y="2103120"/>
            <a:ext cx="5303520" cy="676656"/>
          </a:xfrm>
          <a:prstGeom prst="roundRect">
            <a:avLst>
              <a:gd name="adj" fmla="val 1216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103120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&amp; validation of AI-authored content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889504"/>
            <a:ext cx="5257800" cy="676656"/>
          </a:xfrm>
          <a:prstGeom prst="roundRect">
            <a:avLst>
              <a:gd name="adj" fmla="val 12162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" y="2889504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artifacts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55080" y="2889504"/>
            <a:ext cx="5303520" cy="676656"/>
          </a:xfrm>
          <a:prstGeom prst="roundRect">
            <a:avLst>
              <a:gd name="adj" fmla="val 1216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2889504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assessments; verifying high-stakes evidence; oral defenses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675888"/>
            <a:ext cx="5257800" cy="676656"/>
          </a:xfrm>
          <a:prstGeom prst="roundRect">
            <a:avLst>
              <a:gd name="adj" fmla="val 12162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5528" y="3675888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Scarce office hours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3675888"/>
            <a:ext cx="5303520" cy="676656"/>
          </a:xfrm>
          <a:prstGeom prst="roundRect">
            <a:avLst>
              <a:gd name="adj" fmla="val 1216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3675888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Mentorship, supervision, Socratic seminars — abundant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4462272"/>
            <a:ext cx="5257800" cy="676656"/>
          </a:xfrm>
          <a:prstGeom prst="roundRect">
            <a:avLst>
              <a:gd name="adj" fmla="val 12162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95528" y="4462272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reporting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55080" y="4462272"/>
            <a:ext cx="5303520" cy="676656"/>
          </a:xfrm>
          <a:prstGeom prst="roundRect">
            <a:avLst>
              <a:gd name="adj" fmla="val 1216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4462272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AI proposals in HITL queues; academic judgment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544068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&amp; belonging are first-class kernel objects — and no AI output enters a student's official record without a human in the accountability chain.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· TRUST, RISK &amp; ASSESSMENT INTEGRITY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AI can produce any artifact, artifacts alone are dead as evidence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476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44168" y="178308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 assessment first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498848" y="1783080"/>
            <a:ext cx="69430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with process evidence — versioned work history, in-context checkpoints — not single terminal artifacts.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67919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84378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44168" y="2679192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Dialogic verification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498848" y="2679192"/>
            <a:ext cx="69430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oral defense / Socratic vivas for high-stakes claims: the agent prepares, a human examines.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575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73989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44168" y="3575304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Trust-weighted evidence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498848" y="3575304"/>
            <a:ext cx="69430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carries source trust; an unproctored artifact can raise confidence but never alone reach “verified”.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447141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63600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636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44168" y="4471416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Triangulation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498848" y="4471416"/>
            <a:ext cx="69430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status requires converging evidence types.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53675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55321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44168" y="5367528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Proportionality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498848" y="5367528"/>
            <a:ext cx="69430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Surveillance-heavy proctoring is a last resort, never the default — privacy by design.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·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autonomy tiers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proposes; the institution decides. Every high-impact decision has a named human owner.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2286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59536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with an audit record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38862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quiz generation · study nudges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34256" y="2057400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7C8BC7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26864" y="2286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26864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confirms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26864" y="38862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recognition · interventions · summative feedback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01584" y="2057400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94192" y="2286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RESERVED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394192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decides; AI only prepares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94192" y="38862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issuance · enrollment changes · anything touching official records or money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&amp; 12 · INTEROPERABILITY &amp;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Standards-based by construction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03520" cy="82296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8928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1EdTech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2240280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xAPI · Caliper · Open Badges 3.0 / CLR · LTI 1.3 · CASE · OneRoster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783080"/>
            <a:ext cx="5303520" cy="82296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8928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 trust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240280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Verifiable Credentials &amp; DID · portable, revocable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715768"/>
            <a:ext cx="5303520" cy="82296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" y="282549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Competency frameworks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" y="317296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EQF · ESCO · DigComp · SFIA · CEFR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2715768"/>
            <a:ext cx="5303520" cy="82296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282549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portability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317296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Europass / ELM diploma &amp; learning model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648456"/>
            <a:ext cx="5303520" cy="82296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5528" y="37581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AI mgmt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5528" y="4105656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 · ISO/IEC 42001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3648456"/>
            <a:ext cx="5303520" cy="82296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37581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4105656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· FERPA · dual-region posture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4617720"/>
            <a:ext cx="11057839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86968" y="4754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AI Act — education is an Annex III high-risk domain.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86968" y="5166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management, data governance, technical documentation, logging, transparency, human oversight and accuracy monitoring are treated as compliance requirements — not aspirations.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13 · INSTITUTIONAL VIABILITY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university that cannot be accredited, funded and staffed is a demo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03520" cy="1965960"/>
          </a:xfrm>
          <a:prstGeom prst="roundRect">
            <a:avLst>
              <a:gd name="adj" fmla="val 4186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04825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89888" y="20482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Accreditation — dual track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26060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competency evidence to credit-hour / ECTS projections, and engage quality agencies on evidence-based models. DLU always emits a traditional transcript as a view over the evidence graph.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303520" cy="1965960"/>
          </a:xfrm>
          <a:prstGeom prst="roundRect">
            <a:avLst>
              <a:gd name="adj" fmla="val 4186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04825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78040" y="20482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archetypes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47688" y="26060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· brownfield transformation (the reference path) · corporate academy · consortium. The kernel is identical; experiences &amp; governance profiles differ.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77640"/>
            <a:ext cx="5303520" cy="1965960"/>
          </a:xfrm>
          <a:prstGeom prst="roundRect">
            <a:avLst>
              <a:gd name="adj" fmla="val 4186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" y="419709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89888" y="41970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economics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" y="4754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tutoring shifts cost from marginal human hours to inference &amp; orchestration. Cost per learner is observable per engine via gateway accounting.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3977640"/>
            <a:ext cx="5303520" cy="1965960"/>
          </a:xfrm>
          <a:prstGeom prst="roundRect">
            <a:avLst>
              <a:gd name="adj" fmla="val 4186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19709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78040" y="41970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economics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47688" y="4754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Reallocated faculty time is budgeted and recognized in workload models — or the transformation fails socially before it fails technically.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14 · SUCCESS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manifesto without falsifiable criteria is marketing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03520" cy="713232"/>
          </a:xfrm>
          <a:prstGeom prst="roundRect">
            <a:avLst>
              <a:gd name="adj" fmla="val 11538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78308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852928" y="1783080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conversion; credit-recognition rate &amp; turnaround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783080"/>
            <a:ext cx="5303520" cy="713232"/>
          </a:xfrm>
          <a:prstGeom prst="roundRect">
            <a:avLst>
              <a:gd name="adj" fmla="val 11538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78308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41080" y="1783080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growth; mastery durability; completion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606040"/>
            <a:ext cx="5303520" cy="713232"/>
          </a:xfrm>
          <a:prstGeom prst="roundRect">
            <a:avLst>
              <a:gd name="adj" fmla="val 11538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" y="260604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Guidance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852928" y="2606040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efficacy; GPS re-plan stability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2606040"/>
            <a:ext cx="5303520" cy="713232"/>
          </a:xfrm>
          <a:prstGeom prst="roundRect">
            <a:avLst>
              <a:gd name="adj" fmla="val 11538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260604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41080" y="2606040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explanation-trace coverage; verification SLA &amp; uptime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429000"/>
            <a:ext cx="5303520" cy="713232"/>
          </a:xfrm>
          <a:prstGeom prst="roundRect">
            <a:avLst>
              <a:gd name="adj" fmla="val 11538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5528" y="342900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fabric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852928" y="3429000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hours per learner should rise; belonging; faculty satisfaction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3429000"/>
            <a:ext cx="5303520" cy="713232"/>
          </a:xfrm>
          <a:prstGeom prst="roundRect">
            <a:avLst>
              <a:gd name="adj" fmla="val 11538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342900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641080" y="3429000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Time-to-goal; employability vs target occupations; re-engagement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251960"/>
            <a:ext cx="5303520" cy="713232"/>
          </a:xfrm>
          <a:prstGeom prst="roundRect">
            <a:avLst>
              <a:gd name="adj" fmla="val 11538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95528" y="425196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Wellbeing &amp; equity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2852928" y="4251960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Disparate-impact deltas across cohorts on all of the above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5074920"/>
            <a:ext cx="5303520" cy="713232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0" y="507492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alone is never the north star.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 &amp; 16 · THE PATH TO CONFORMANCE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vision to a certified, running institution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2B3A7A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19456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64208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DAS-Core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9536" y="3063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Kernel contracts &amp; invariants (BOOK-03/04/05)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4256" y="192024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2B3A7A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26864" y="219456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31536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DAS-Intelligent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26864" y="3063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Digital Twin, ACE, Academic GPS &amp; AI Workforce (BOOK-06…14)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192024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2B3A7A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219456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98864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DAS-Certified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94192" y="3063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governance, integrity &amp; compliance, audited (BOOK-15/16/19)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4526280"/>
            <a:ext cx="11057839" cy="1280160"/>
          </a:xfrm>
          <a:prstGeom prst="roundRect">
            <a:avLst>
              <a:gd name="adj" fmla="val 6429"/>
            </a:avLst>
          </a:prstGeom>
          <a:solidFill>
            <a:srgbClr val="C9A227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6968" y="4663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Brownfield-first (ADR-0008)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86968" y="5074920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is implemented by extending the proven DLU Builder Turnkey platform — a systematization of a running AI-native university, not a greenfield redesign. Delivered through the 20-book Masterbook and sprint-level implementation prompts.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937760" cy="4937760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St. Thomas Strategy · 2026–2030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8803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AI-Native vision to a transatlantic operating plan — grounded in the proven US online-university playbook.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397764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2B3A7A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4160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77824" y="4983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students by 2029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4256" y="397764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2B3A7A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26864" y="4160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&gt;$30M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45152" y="4983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target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1584" y="397764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2B3A7A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94192" y="4160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phases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412480" y="4983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Pre-Online → AI-Native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BRIDGE PROGRAM · 2026–2030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Degree, Two Continents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consolidated Italian assets (e-Campus / Link) with the new US hub — St. Thomas, Charlotte.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33172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32004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AI-Native ecosystem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59536" y="406908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university ecosystem that is AI-native with international reach — proven Italian delivery joined to a US degree-granting hub.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34256" y="201168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4296" y="233172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4654296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26864" y="32004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Degree, Two Continents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26864" y="406908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operator able to offer a US degree with European validation — closing the gap for students who want global mobility without prohibitive cost.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01584" y="201168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21624" y="233172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8421624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94192" y="32004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2029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94192" y="406908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hybrid students on a scalable business model generating an EBITDA above $30M.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CAPABILITY BUILDING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 to AI-Native — four phases, four accreditation gates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651760" cy="4160520"/>
          </a:xfrm>
          <a:prstGeom prst="roundRect">
            <a:avLst>
              <a:gd name="adj" fmla="val 3103"/>
            </a:avLst>
          </a:prstGeom>
          <a:solidFill>
            <a:srgbClr val="2B3A7A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938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8096" y="224942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Pre-Online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8096" y="28163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68096" y="3703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8096" y="4114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NC license (active)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68096" y="4800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Moodle base · no AI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46704" y="1783080"/>
            <a:ext cx="2651760" cy="4160520"/>
          </a:xfrm>
          <a:prstGeom prst="roundRect">
            <a:avLst>
              <a:gd name="adj" fmla="val 3103"/>
            </a:avLst>
          </a:prstGeom>
          <a:solidFill>
            <a:srgbClr val="2B3A7A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47872" y="1938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47872" y="224942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Structured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47872" y="28163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– Q1 2027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47872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547872" y="3703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(Jul 2027)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47872" y="4114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DEAC application (Priority 1)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47872" y="4800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Blueprint L1 · funnel Cepu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1783080"/>
            <a:ext cx="2651760" cy="4160520"/>
          </a:xfrm>
          <a:prstGeom prst="roundRect">
            <a:avLst>
              <a:gd name="adj" fmla="val 3103"/>
            </a:avLst>
          </a:prstGeom>
          <a:solidFill>
            <a:srgbClr val="2B3A7A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27648" y="1938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7648" y="224942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AI-Augmented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27648" y="28163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– 2028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27648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327648" y="3703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27648" y="4114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DEAC accreditation obtained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27648" y="4800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AI Tutor · KG + Digital Twin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906256" y="1783080"/>
            <a:ext cx="2651760" cy="4160520"/>
          </a:xfrm>
          <a:prstGeom prst="roundRect">
            <a:avLst>
              <a:gd name="adj" fmla="val 3103"/>
            </a:avLst>
          </a:prstGeom>
          <a:solidFill>
            <a:srgbClr val="2B3A7A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07424" y="1938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07424" y="224942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AI-Native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07424" y="28163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 – 2030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07424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6,500+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9107424" y="3703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50k hybrid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07424" y="4114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SACSCOC regional started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07424" y="4800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Multi-Agent System · RAG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DAS conformance: Phase 1 → DAS-Core · Phase 2 → DAS-Intelligent · Phase 3 → DAS-Certified.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TOP US ONLINE UNIVERSITIES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US market leaders teach 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online market exceeds $100B and 8M students; the top 5 hold &gt;40%. Regional accreditation unlocks Title IV federal aid — 60–70% of leaders' revenue.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WGU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~180k · Competency-Based (CBE)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$8.3k/yr · 36× graduate ROI · 90% employer satisfaction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4256" y="201168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0288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SNHU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590288" y="2651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~300k · Master Course Model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90288" y="30175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 course projects/yr · industrial quality at scale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1584" y="201168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57616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ASU Online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357616" y="2651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~60k · EdPlus 7-phase + AI authoring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57616" y="30175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programs · R1 research brand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023360"/>
            <a:ext cx="11057839" cy="18288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6968" y="4160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STU's build order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86968" y="45720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first (structural prerequisites): 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accreditation · Master-Course / CBE · advanced LMS + xAPI · aggressive digital marketing · student-success services.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accelerate (performance multipliers):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pricing · employer partnerships · structured faculty model · compliance layer · AI-native evolution.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STRATEGY · CHARLOTTE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degree for three continents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3977640" cy="356616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21214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1 · AFRICA / MENA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2560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100–300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59536" y="3337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per intake, per agreement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9536" y="379476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 with local universities and institutions across sub-Saharan Africa, North Africa and the Middle East are being defined — a US + EU dual-spendable degree.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92040" y="193852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C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2 · EUROPEAN RECOGNITION — THREE PATHS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92040" y="2240280"/>
            <a:ext cx="6766560" cy="13716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38928" y="235915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Dual Degree  (RECOMMENDED)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138928" y="2743200"/>
            <a:ext cx="6355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accord with a MUR-recognised Italian university (e.g. iCampus / Link). Student earns STU + Italian degree — immediate EU legal value, independent of the US track.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92040" y="3721608"/>
            <a:ext cx="6766560" cy="932688"/>
          </a:xfrm>
          <a:prstGeom prst="roundRect">
            <a:avLst>
              <a:gd name="adj" fmla="val 8824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38928" y="38404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Italian branch (filiazione)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138928" y="4224528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branch of STU in Italy — direct brand presence; requires MUR authorisation, higher fixed cost, longer path.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92040" y="4764024"/>
            <a:ext cx="6766560" cy="932688"/>
          </a:xfrm>
          <a:prstGeom prst="roundRect">
            <a:avLst>
              <a:gd name="adj" fmla="val 8824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38928" y="488289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Direct MUR recognition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138928" y="5266944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recognition by the Italian ministry — fullest recognition, but the longest, bilateral-dependent timeline.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59893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“Three Continents” — in synergy with the MEDEA project (Multiversity, Malta) on the same MENA/Africa markets, STU adds the US component of the degree.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VISION TO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core processes — value-creating &amp; value-protecting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474720" cy="1325880"/>
          </a:xfrm>
          <a:prstGeom prst="roundRect">
            <a:avLst>
              <a:gd name="adj" fmla="val 6207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200253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· Academic Design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238658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Provost / Dean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5528" y="26609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Curriculum, syllabi, assessment rubrics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874520"/>
            <a:ext cx="3474720" cy="1325880"/>
          </a:xfrm>
          <a:prstGeom prst="roundRect">
            <a:avLst>
              <a:gd name="adj" fmla="val 6207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200253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· Marketing &amp; Enrollment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38658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/ Growth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26609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→ enrolled students, revenue, CAC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36992" y="1874520"/>
            <a:ext cx="3474720" cy="1325880"/>
          </a:xfrm>
          <a:prstGeom prst="roundRect">
            <a:avLst>
              <a:gd name="adj" fmla="val 6207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65592" y="200253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· Course Delivery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65592" y="238658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Record + Adjuncts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65592" y="26609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Completions, grades, credits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355848"/>
            <a:ext cx="3474720" cy="1325880"/>
          </a:xfrm>
          <a:prstGeom prst="roundRect">
            <a:avLst>
              <a:gd name="adj" fmla="val 620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5528" y="348386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· Student Success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5528" y="38679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Success Mgr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5528" y="41422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Retention, satisfaction, placement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51960" y="3355848"/>
            <a:ext cx="3474720" cy="1325880"/>
          </a:xfrm>
          <a:prstGeom prst="roundRect">
            <a:avLst>
              <a:gd name="adj" fmla="val 620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80560" y="348386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· Compliance &amp; Accreditation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80560" y="38679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Compliance Officer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41422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 milestones, FERPA, policy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36992" y="3355848"/>
            <a:ext cx="3474720" cy="1325880"/>
          </a:xfrm>
          <a:prstGeom prst="roundRect">
            <a:avLst>
              <a:gd name="adj" fmla="val 620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65592" y="348386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· Technology &amp; Data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65592" y="38679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IT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65592" y="41422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Uptime, data governance, integrations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983480"/>
            <a:ext cx="11057839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59536" y="50840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cadence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9536" y="5440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Ops · Monthly Academic · Quarterly Board · Annual Strategic   |   guardrails: Retention &gt;75% · Completion &gt;70% · NPS &gt;50 · CAC &lt;$900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66928" y="605332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01–03 create value (students &amp; revenue); 04–06 protect it (quality, compliance, scale) — both must be live at launch.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AMERICAN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St. Thomas University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204825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AI-native university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59536" y="2743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evidence, human mentorship and trust — the first-class design, not an AI layer on legacy systems.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47688" y="204825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Brownfield-first adoption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47688" y="2743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 proven platform to move fast and de-risk, mapping every capability to the Seven Questions.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93192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9536" y="415137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credential backed by evidence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9536" y="4846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credentials and a traditional transcript emitted as a view over the evidence graph.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55080" y="393192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5400000">
              <a:srgbClr val="9AA3B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47688" y="415137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elevated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47688" y="4846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Reallocated time recognized in workload; mentorship hours per learner rise, not fall.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108960"/>
            <a:ext cx="5120640" cy="5120640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86868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868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2103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DLU does not seek to automate universities.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30632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seeks to redesign higher education around knowledge, competencies, evidence, human expertise and Artificial Intelligence — with the humility to ground every claim in learning science, the discipline to make every AI decision explainable, and the honesty to architect for the risks it creates.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66928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St. Thomas University · Global American Learning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St. Thomas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DLU</dc:creator>
  <cp:lastModifiedBy>DLU</cp:lastModifiedBy>
  <cp:revision>1</cp:revision>
  <dcterms:created xsi:type="dcterms:W3CDTF">2026-08-06T19:40:18Z</dcterms:created>
  <dcterms:modified xsi:type="dcterms:W3CDTF">2026-08-06T19:40:18Z</dcterms:modified>
</cp:coreProperties>
</file>